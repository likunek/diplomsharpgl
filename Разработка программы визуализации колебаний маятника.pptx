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40" r:id="rId4"/>
  </p:sldMasterIdLst>
  <p:notesMasterIdLst>
    <p:notesMasterId r:id="rId16"/>
  </p:notesMasterIdLst>
  <p:handoutMasterIdLst>
    <p:handoutMasterId r:id="rId17"/>
  </p:handoutMasterIdLst>
  <p:sldIdLst>
    <p:sldId id="272" r:id="rId5"/>
    <p:sldId id="276" r:id="rId6"/>
    <p:sldId id="283" r:id="rId7"/>
    <p:sldId id="288" r:id="rId8"/>
    <p:sldId id="289" r:id="rId9"/>
    <p:sldId id="291" r:id="rId10"/>
    <p:sldId id="290" r:id="rId11"/>
    <p:sldId id="280" r:id="rId12"/>
    <p:sldId id="282" r:id="rId13"/>
    <p:sldId id="284" r:id="rId14"/>
    <p:sldId id="285" r:id="rId15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795205-68D9-466D-BFA3-F809D30E25FD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885B813-1875-4F9F-8EB5-9DD9822D8799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525125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89651A3-2BA0-4E95-AC5E-EC61DA031103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80EA6D1-6F22-46FD-AD91-FC510839F779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5259541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80EA6D1-6F22-46FD-AD91-FC510839F779}" type="slidenum">
              <a:rPr lang="ru-RU" noProof="1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84428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Прямоугольник 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 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Группа 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Овал 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Овал 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rtlCol="0"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 rtlCol="0"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 noProof="1" smtClean="0"/>
              <a:t>Образец подзаголовка</a:t>
            </a:r>
            <a:endParaRPr lang="ru-RU" noProof="1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0F44EC0-8FA7-43C3-BF75-1B62E7B1071D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 rtlCol="0"/>
          <a:lstStyle>
            <a:lvl1pPr>
              <a:defRPr sz="2800"/>
            </a:lvl1pPr>
          </a:lstStyle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905E3D-C1FA-455F-8EC6-98C724C6AC46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rtlCol="0"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2165774" y="5020056"/>
            <a:ext cx="9052560" cy="1066800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 rtlCol="0"/>
          <a:lstStyle/>
          <a:p>
            <a:pPr rtl="0"/>
            <a:fld id="{AA03C487-F237-4933-A8A3-EACB45980D6A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 rtlCol="0"/>
          <a:lstStyle/>
          <a:p>
            <a:pPr rtl="0"/>
            <a:endParaRPr lang="ru-RU" noProof="1"/>
          </a:p>
        </p:txBody>
      </p:sp>
      <p:grpSp>
        <p:nvGrpSpPr>
          <p:cNvPr id="8" name="Группа 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Овал 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Овал 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 rtlCol="0"/>
          <a:lstStyle>
            <a:lvl1pPr>
              <a:defRPr sz="2800"/>
            </a:lvl1pPr>
          </a:lstStyle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069848" y="2194560"/>
            <a:ext cx="4754880" cy="3977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364224" y="2194560"/>
            <a:ext cx="4754880" cy="39776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3D6779-2BAE-4D55-AF78-866857FC64D6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 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066800" y="2048256"/>
            <a:ext cx="4754880" cy="640080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069848" y="2743200"/>
            <a:ext cx="4754880" cy="32918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6364224" y="2048256"/>
            <a:ext cx="4754880" cy="640080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364224" y="2743200"/>
            <a:ext cx="4754880" cy="3291840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D501B0-B1E9-4268-8DAB-F1E4CA71AF2B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93B20D-52EB-4535-8ABF-68588631E1EC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AA4997-8543-4EEE-A346-8B838C5E04AC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rtlCol="0" anchor="b">
            <a:normAutofit/>
          </a:bodyPr>
          <a:lstStyle>
            <a:lvl1pPr>
              <a:defRPr sz="3200" b="1"/>
            </a:lvl1pPr>
          </a:lstStyle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685800"/>
            <a:ext cx="6711696" cy="5020056"/>
          </a:xfrm>
        </p:spPr>
        <p:txBody>
          <a:bodyPr rtlCol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549640" y="2423160"/>
            <a:ext cx="3200400" cy="329184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2B5F6-0455-4FA5-8C51-CE14102EDB0B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grpSp>
        <p:nvGrpSpPr>
          <p:cNvPr id="9" name="Группа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Овал 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Овал 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 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rtlCol="0" anchor="b">
            <a:normAutofit/>
          </a:bodyPr>
          <a:lstStyle>
            <a:lvl1pPr>
              <a:defRPr sz="3200" b="1"/>
            </a:lvl1pPr>
          </a:lstStyle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549640" y="2423160"/>
            <a:ext cx="3200400" cy="329184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248504-0B74-4DCA-BBF0-4E65403AD0FF}" type="datetime1">
              <a:rPr lang="ru-RU" noProof="1" smtClean="0"/>
              <a:t>20.06.2025</a:t>
            </a:fld>
            <a:endParaRPr lang="ru-RU" noProof="1"/>
          </a:p>
        </p:txBody>
      </p:sp>
      <p:grpSp>
        <p:nvGrpSpPr>
          <p:cNvPr id="8" name="Группа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Овал 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Овал 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D40F25-A93E-4C36-A62F-E12E4B0D8701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 rtlCol="0"/>
          <a:lstStyle/>
          <a:p>
            <a:pPr rtl="0"/>
            <a:r>
              <a:rPr lang="ru-RU" noProof="1" smtClean="0"/>
              <a:t>Образец заголовка</a:t>
            </a:r>
            <a:endParaRPr lang="ru-RU" noProof="1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1066800" y="533400"/>
            <a:ext cx="7505700" cy="5638800"/>
          </a:xfrm>
        </p:spPr>
        <p:txBody>
          <a:bodyPr vert="eaVert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0EA14-21E5-44C1-8277-32F3A3825F2C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Стиль образца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rtl="0"/>
            <a:fld id="{7B396C7A-655D-40FE-8CA6-866366036487}" type="datetime1">
              <a:rPr lang="ru-RU" noProof="1" smtClean="0"/>
              <a:t>20.06.2025</a:t>
            </a:fld>
            <a:endParaRPr lang="ru-RU" noProof="1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 rtl="0"/>
            <a:endParaRPr lang="ru-RU" noProof="1"/>
          </a:p>
        </p:txBody>
      </p:sp>
      <p:grpSp>
        <p:nvGrpSpPr>
          <p:cNvPr id="7" name="Группа 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Овал 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Овал 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pic>
        <p:nvPicPr>
          <p:cNvPr id="5" name="Рисунок 4" descr="Цветы крупным планом">
            <a:extLst>
              <a:ext uri="{FF2B5EF4-FFF2-40B4-BE49-F238E27FC236}">
                <a16:creationId xmlns:a16="http://schemas.microsoft.com/office/drawing/2014/main" id="{0EF5E38D-0785-4482-91F2-A65E2DFB58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1" b="14789"/>
          <a:stretch/>
        </p:blipFill>
        <p:spPr>
          <a:xfrm>
            <a:off x="20" y="-2"/>
            <a:ext cx="12191980" cy="6857989"/>
          </a:xfrm>
          <a:prstGeom prst="rect">
            <a:avLst/>
          </a:prstGeom>
        </p:spPr>
      </p:pic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4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1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16652-E95E-40C9-B397-C76AFE1C2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rtlCol="0" anchor="b">
            <a:normAutofit fontScale="90000"/>
          </a:bodyPr>
          <a:lstStyle/>
          <a:p>
            <a:r>
              <a:rPr lang="ru-RU" sz="6700" noProof="1" smtClean="0">
                <a:solidFill>
                  <a:srgbClr val="FFFFFF"/>
                </a:solidFill>
              </a:rPr>
              <a:t>Разработка </a:t>
            </a:r>
            <a:r>
              <a:rPr lang="ru-RU" sz="7300" noProof="1" smtClean="0">
                <a:solidFill>
                  <a:srgbClr val="FFFFFF"/>
                </a:solidFill>
              </a:rPr>
              <a:t>программы визаулизации колебаний маятника</a:t>
            </a:r>
            <a:endParaRPr lang="ru-RU" sz="7300" noProof="1">
              <a:solidFill>
                <a:srgbClr val="FFFFFF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ABE257-83AA-474D-BCC2-238EE02A2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20"/>
            <a:ext cx="10119083" cy="1069848"/>
          </a:xfrm>
        </p:spPr>
        <p:txBody>
          <a:bodyPr rtlCol="0">
            <a:normAutofit/>
          </a:bodyPr>
          <a:lstStyle/>
          <a:p>
            <a:pPr rtl="0"/>
            <a:r>
              <a:rPr lang="ru-RU" noProof="1" smtClean="0">
                <a:solidFill>
                  <a:srgbClr val="FFFFFF"/>
                </a:solidFill>
              </a:rPr>
              <a:t>Автор: Грибова Анжелика Павловна</a:t>
            </a:r>
          </a:p>
          <a:p>
            <a:pPr rtl="0"/>
            <a:r>
              <a:rPr lang="ru-RU" noProof="1" smtClean="0">
                <a:solidFill>
                  <a:srgbClr val="FFFFFF"/>
                </a:solidFill>
              </a:rPr>
              <a:t>Научный Руководитель: Задорожный Александр Геннадьевич </a:t>
            </a:r>
            <a:endParaRPr lang="ru-RU" noProof="1">
              <a:solidFill>
                <a:srgbClr val="FFFFFF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pPr rtl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48651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Поставленные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ru-RU" sz="2800" dirty="0" smtClean="0"/>
              <a:t>Реализовать </a:t>
            </a:r>
            <a:r>
              <a:rPr lang="ru-RU" sz="2800" dirty="0"/>
              <a:t>движение маятника с помощью </a:t>
            </a:r>
            <a:r>
              <a:rPr lang="ru-RU" sz="2800" dirty="0" err="1" smtClean="0"/>
              <a:t>OpenGL</a:t>
            </a:r>
            <a:endParaRPr lang="ru-RU" sz="2800" dirty="0" smtClean="0"/>
          </a:p>
          <a:p>
            <a:pPr>
              <a:spcAft>
                <a:spcPts val="600"/>
              </a:spcAft>
            </a:pPr>
            <a:r>
              <a:rPr lang="ru-RU" sz="2800" dirty="0" smtClean="0"/>
              <a:t>Добавить два вида освещения</a:t>
            </a:r>
          </a:p>
          <a:p>
            <a:pPr>
              <a:spcAft>
                <a:spcPts val="600"/>
              </a:spcAft>
            </a:pPr>
            <a:r>
              <a:rPr lang="ru-RU" sz="2800" dirty="0" smtClean="0"/>
              <a:t>Показать </a:t>
            </a:r>
            <a:r>
              <a:rPr lang="ru-RU" sz="2800" dirty="0"/>
              <a:t>динамическую тень, которую отбрасывает шарик </a:t>
            </a:r>
            <a:r>
              <a:rPr lang="ru-RU" sz="2800" dirty="0" smtClean="0"/>
              <a:t>маятника</a:t>
            </a:r>
            <a:endParaRPr lang="ru-RU" sz="2800" dirty="0"/>
          </a:p>
          <a:p>
            <a:pPr>
              <a:spcAft>
                <a:spcPts val="600"/>
              </a:spcAft>
            </a:pPr>
            <a:r>
              <a:rPr lang="ru-RU" sz="2800" dirty="0" smtClean="0"/>
              <a:t>Использовать </a:t>
            </a:r>
            <a:r>
              <a:rPr lang="ru-RU" sz="2800" dirty="0"/>
              <a:t>3D-модели в сцене</a:t>
            </a:r>
          </a:p>
          <a:p>
            <a:pPr>
              <a:spcAft>
                <a:spcPts val="600"/>
              </a:spcAft>
            </a:pPr>
            <a:r>
              <a:rPr lang="ru-RU" sz="2800" dirty="0" smtClean="0"/>
              <a:t>Использовать </a:t>
            </a:r>
            <a:r>
              <a:rPr lang="ru-RU" sz="2800" dirty="0"/>
              <a:t>текстуры на объектах </a:t>
            </a:r>
            <a:endParaRPr lang="ru-RU" sz="2800" dirty="0" smtClean="0"/>
          </a:p>
          <a:p>
            <a:pPr>
              <a:spcAft>
                <a:spcPts val="600"/>
              </a:spcAft>
            </a:pPr>
            <a:r>
              <a:rPr lang="ru-RU" sz="2800" dirty="0" smtClean="0"/>
              <a:t>Добавить пользовательский интерфейс </a:t>
            </a:r>
            <a:endParaRPr lang="ru-RU" sz="28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87645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54212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Затухающие колебания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723207" y="1671520"/>
                <a:ext cx="9750828" cy="1030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5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5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5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5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5400" i="0">
                              <a:latin typeface="Cambria Math" panose="02040503050406030204" pitchFamily="18" charset="0"/>
                            </a:rPr>
                            <m:t>)= </m:t>
                          </m:r>
                          <m:sSub>
                            <m:sSubPr>
                              <m:ctrlPr>
                                <a:rPr lang="ru-RU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5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5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5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5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sz="5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sz="5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ru-RU" sz="5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ru-RU" sz="54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ru-RU" sz="5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5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ru-RU" sz="5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5400" i="0"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lang="ru-RU" sz="5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54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ru-RU" sz="5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5400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7" y="1671520"/>
                <a:ext cx="9750828" cy="1030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129464" y="3024347"/>
                <a:ext cx="6950814" cy="8064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ru-RU" sz="3200" i="1" kern="10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3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num>
                      <m:den>
                        <m:r>
                          <a:rPr lang="ru-RU" sz="3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a:rPr lang="ru-RU" sz="3200" i="1" kern="10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u-RU" sz="3200" kern="100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 (1/с</a:t>
                </a:r>
                <a:r>
                  <a:rPr lang="ru-RU" sz="3200" kern="100" dirty="0" smtClean="0">
                    <a:latin typeface="Times New Roman" panose="02020603050405020304" pitchFamily="18" charset="0"/>
                    <a:ea typeface="Calibri" panose="020F0502020204030204" pitchFamily="34" charset="0"/>
                  </a:rPr>
                  <a:t>) – коэффициент затухания</a:t>
                </a:r>
                <a:endParaRPr lang="ru-RU" sz="32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64" y="3024347"/>
                <a:ext cx="6950814" cy="806439"/>
              </a:xfrm>
              <a:prstGeom prst="rect">
                <a:avLst/>
              </a:prstGeom>
              <a:blipFill>
                <a:blip r:embed="rId3"/>
                <a:stretch>
                  <a:fillRect r="-1139" b="-98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129464" y="5100814"/>
                <a:ext cx="6689395" cy="969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kern="10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sz="2800" b="0" i="1" kern="100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sz="2800" i="1" kern="10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ru-RU" sz="2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ru-RU" sz="2800" i="1" kern="1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sz="2800" b="0" i="1" kern="10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den>
                        </m:f>
                      </m:e>
                    </m:rad>
                  </m:oMath>
                </a14:m>
                <a:r>
                  <a:rPr lang="ru-RU" sz="2800" kern="100" dirty="0">
                    <a:latin typeface="Times New Roman" panose="02020603050405020304" pitchFamily="18" charset="0"/>
                    <a:ea typeface="Cambria" panose="02040503050406030204" pitchFamily="18" charset="0"/>
                  </a:rPr>
                  <a:t> </a:t>
                </a:r>
                <a:r>
                  <a:rPr lang="ru-RU" sz="2800" kern="100" dirty="0">
                    <a:latin typeface="Times New Roman" panose="020206030504050203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ru-RU" sz="2800" kern="100" dirty="0">
                    <a:latin typeface="Times New Roman" panose="02020603050405020304" pitchFamily="18" charset="0"/>
                    <a:ea typeface="Cambria" panose="02040503050406030204" pitchFamily="18" charset="0"/>
                  </a:rPr>
                  <a:t> </a:t>
                </a:r>
                <a:r>
                  <a:rPr lang="ru-RU" sz="2800" kern="100" dirty="0" smtClean="0">
                    <a:latin typeface="Times New Roman" panose="02020603050405020304" pitchFamily="18" charset="0"/>
                    <a:ea typeface="Cambria" panose="02040503050406030204" pitchFamily="18" charset="0"/>
                  </a:rPr>
                  <a:t>собственная частота колебаний</a:t>
                </a:r>
                <a:endParaRPr lang="ru-RU" sz="28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64" y="5100814"/>
                <a:ext cx="6689395" cy="969176"/>
              </a:xfrm>
              <a:prstGeom prst="rect">
                <a:avLst/>
              </a:prstGeom>
              <a:blipFill>
                <a:blip r:embed="rId4"/>
                <a:stretch>
                  <a:fillRect r="-8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069848" y="3981212"/>
                <a:ext cx="8995989" cy="969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latin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ru-R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b="0" i="0" smtClean="0">
                              <a:latin typeface="Cambria Math" panose="02040503050406030204" pitchFamily="18" charset="0"/>
                            </a:rPr>
                            <m:t>рад/с</m:t>
                          </m:r>
                        </m:e>
                      </m:d>
                      <m:r>
                        <a:rPr lang="ru-RU" sz="2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ru-RU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ru-R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ru-RU" sz="2800" kern="100" dirty="0">
                          <a:latin typeface="Times New Roman" panose="02020603050405020304" pitchFamily="18" charset="0"/>
                          <a:ea typeface="Cambria" panose="02040503050406030204" pitchFamily="18" charset="0"/>
                        </a:rPr>
                        <m:t>частота затухающих колебаний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48" y="3981212"/>
                <a:ext cx="8995989" cy="969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15271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454706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программа</a:t>
            </a:r>
            <a:endParaRPr lang="ru-RU" sz="32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4</a:t>
            </a:fld>
            <a:endParaRPr lang="ru-RU" noProof="1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736" y="1061975"/>
            <a:ext cx="7547957" cy="539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1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3561" y="384880"/>
            <a:ext cx="10058400" cy="504583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Управление камерой</a:t>
            </a:r>
            <a:endParaRPr lang="ru-RU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5</a:t>
            </a:fld>
            <a:endParaRPr lang="ru-RU" noProof="1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801" y="1633308"/>
            <a:ext cx="4701694" cy="47983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61" y="1633309"/>
            <a:ext cx="4714686" cy="479830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30644" y="1116821"/>
            <a:ext cx="1471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/>
              <a:t>Вид сбоку: </a:t>
            </a: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26801" y="1116821"/>
            <a:ext cx="1580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/>
              <a:t>Вид сверху: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9869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656" y="351628"/>
            <a:ext cx="10058400" cy="521208"/>
          </a:xfrm>
        </p:spPr>
        <p:txBody>
          <a:bodyPr>
            <a:noAutofit/>
          </a:bodyPr>
          <a:lstStyle/>
          <a:p>
            <a:r>
              <a:rPr lang="ru-RU" sz="2800" dirty="0" smtClean="0"/>
              <a:t>Точечный источник света</a:t>
            </a:r>
            <a:endParaRPr lang="ru-RU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6</a:t>
            </a:fld>
            <a:endParaRPr lang="ru-RU" noProof="1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98656" y="1554476"/>
            <a:ext cx="4646362" cy="4718308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317215" y="1554476"/>
            <a:ext cx="4539207" cy="471830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98656" y="1028990"/>
            <a:ext cx="1742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dirty="0">
                <a:solidFill>
                  <a:prstClr val="black"/>
                </a:solidFill>
              </a:rPr>
              <a:t>Модель </a:t>
            </a:r>
            <a:r>
              <a:rPr lang="ru-RU" dirty="0" err="1" smtClean="0">
                <a:solidFill>
                  <a:prstClr val="black"/>
                </a:solidFill>
              </a:rPr>
              <a:t>Фонга</a:t>
            </a:r>
            <a:r>
              <a:rPr lang="ru-RU" dirty="0" smtClean="0">
                <a:solidFill>
                  <a:prstClr val="black"/>
                </a:solidFill>
              </a:rPr>
              <a:t>:</a:t>
            </a:r>
            <a:endParaRPr lang="ru-RU" dirty="0">
              <a:solidFill>
                <a:prstClr val="black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167373" y="1028990"/>
            <a:ext cx="2107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Модель </a:t>
            </a:r>
            <a:r>
              <a:rPr lang="ru-RU" dirty="0" smtClean="0"/>
              <a:t>Ламберта: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569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5404" y="318377"/>
            <a:ext cx="10058400" cy="67915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Небесное освещение</a:t>
            </a:r>
            <a:endParaRPr lang="ru-RU" sz="2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7</a:t>
            </a:fld>
            <a:endParaRPr lang="ru-RU" noProof="1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845404" y="1579418"/>
            <a:ext cx="4695438" cy="4693366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6244089" y="1579418"/>
            <a:ext cx="4487642" cy="469336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45404" y="1110332"/>
            <a:ext cx="21225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Фонга</a:t>
            </a:r>
            <a:r>
              <a:rPr lang="ru-RU" dirty="0" smtClean="0"/>
              <a:t>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44089" y="1103806"/>
            <a:ext cx="2107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Модель </a:t>
            </a:r>
            <a:r>
              <a:rPr lang="ru-RU" dirty="0" smtClean="0"/>
              <a:t>Ламберта: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405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892" y="426443"/>
            <a:ext cx="10058400" cy="778903"/>
          </a:xfrm>
        </p:spPr>
        <p:txBody>
          <a:bodyPr>
            <a:normAutofit/>
          </a:bodyPr>
          <a:lstStyle/>
          <a:p>
            <a:r>
              <a:rPr lang="ru-RU" sz="3600" dirty="0" smtClean="0"/>
              <a:t>Реализация тени</a:t>
            </a:r>
            <a:endParaRPr lang="ru-RU" sz="36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581892" y="1496290"/>
            <a:ext cx="4912821" cy="5040000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6099048" y="1496290"/>
            <a:ext cx="4904510" cy="5040000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8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08960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36" y="359941"/>
            <a:ext cx="10058400" cy="695775"/>
          </a:xfrm>
        </p:spPr>
        <p:txBody>
          <a:bodyPr>
            <a:normAutofit/>
          </a:bodyPr>
          <a:lstStyle/>
          <a:p>
            <a:r>
              <a:rPr lang="ru-RU" sz="3600" dirty="0" smtClean="0"/>
              <a:t>Использование текстур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36" y="1321723"/>
            <a:ext cx="4950462" cy="505218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778" y="1316168"/>
            <a:ext cx="4954988" cy="5063294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9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97585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327543"/>
          </a:xfrm>
        </p:spPr>
        <p:txBody>
          <a:bodyPr>
            <a:normAutofit/>
          </a:bodyPr>
          <a:lstStyle/>
          <a:p>
            <a:pPr algn="ctr"/>
            <a:r>
              <a:rPr lang="ru-RU" sz="3600" dirty="0" smtClean="0"/>
              <a:t>Тесты на время затухания колебаний маятника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281092"/>
                  </p:ext>
                </p:extLst>
              </p:nvPr>
            </p:nvGraphicFramePr>
            <p:xfrm>
              <a:off x="355080" y="2169621"/>
              <a:ext cx="11247120" cy="4006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9424">
                      <a:extLst>
                        <a:ext uri="{9D8B030D-6E8A-4147-A177-3AD203B41FA5}">
                          <a16:colId xmlns:a16="http://schemas.microsoft.com/office/drawing/2014/main" val="2399710872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621102352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3431598350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4102444999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4220757861"/>
                        </a:ext>
                      </a:extLst>
                    </a:gridCol>
                  </a:tblGrid>
                  <a:tr h="4006505">
                    <a:tc>
                      <a:txBody>
                        <a:bodyPr/>
                        <a:lstStyle/>
                        <a:p>
                          <a:pPr marL="0" indent="0" algn="ctr"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ru-RU" sz="2400" baseline="0" dirty="0" smtClean="0"/>
                            <a:t>1.</a:t>
                          </a:r>
                        </a:p>
                        <a:p>
                          <a:pPr marL="0" indent="0" algn="ctr"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2400" baseline="0" dirty="0" smtClean="0"/>
                            <a:t>L = </a:t>
                          </a:r>
                          <a:r>
                            <a:rPr lang="ru-RU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2.0 м</a:t>
                          </a:r>
                          <a:endParaRPr lang="en-US" sz="2400" b="1" kern="1200" dirty="0" smtClean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F = </a:t>
                          </a:r>
                          <a:r>
                            <a:rPr lang="ru-RU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0.05 кг/с</a:t>
                          </a:r>
                          <a:endParaRPr lang="en-US" sz="2400" b="1" kern="1200" dirty="0" smtClean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en-US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 = </a:t>
                          </a:r>
                          <a:r>
                            <a:rPr lang="ru-RU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1.0 кг</a:t>
                          </a:r>
                          <a:endParaRPr lang="en-US" sz="2400" b="1" kern="1200" dirty="0" smtClean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 algn="ctr">
                            <a:spcAft>
                              <a:spcPts val="600"/>
                            </a:spcAft>
                            <a:buNone/>
                          </a:pPr>
                          <a:r>
                            <a:rPr lang="ru-RU" sz="2400" b="1" i="0" dirty="0" smtClean="0">
                              <a:solidFill>
                                <a:schemeClr val="bg1"/>
                              </a:solidFill>
                              <a:effectLst/>
                              <a:latin typeface="YS Text"/>
                            </a:rPr>
                            <a:t>∠</a:t>
                          </a:r>
                          <a14:m>
                            <m:oMath xmlns:m="http://schemas.openxmlformats.org/officeDocument/2006/math">
                              <m:r>
                                <a:rPr lang="ru-RU" sz="2400" b="1" i="1" kern="1200" smtClean="0">
                                  <a:solidFill>
                                    <a:schemeClr val="lt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2400" b="1" i="0" dirty="0" smtClean="0">
                              <a:solidFill>
                                <a:schemeClr val="bg1"/>
                              </a:solidFill>
                              <a:effectLst/>
                              <a:latin typeface="YS Text"/>
                            </a:rPr>
                            <a:t> </a:t>
                          </a:r>
                          <a:r>
                            <a:rPr lang="en-US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lang="en-US" sz="2400" b="1" i="0" dirty="0" smtClean="0">
                              <a:solidFill>
                                <a:schemeClr val="bg1"/>
                              </a:solidFill>
                              <a:effectLst/>
                              <a:latin typeface="YS Text"/>
                            </a:rPr>
                            <a:t> </a:t>
                          </a:r>
                          <a:r>
                            <a:rPr lang="ru-RU" sz="24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90°</a:t>
                          </a:r>
                          <a:endParaRPr lang="en-US" sz="2400" b="1" kern="1200" dirty="0" smtClean="0">
                            <a:solidFill>
                              <a:schemeClr val="lt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indent="0">
                            <a:buNone/>
                          </a:pPr>
                          <a:endParaRPr lang="en-US" dirty="0" smtClean="0"/>
                        </a:p>
                        <a:p>
                          <a:pPr marL="0" indent="0">
                            <a:buNone/>
                          </a:pPr>
                          <a:endParaRPr lang="en-US" dirty="0" smtClean="0"/>
                        </a:p>
                        <a:p>
                          <a:pPr marL="0" indent="0">
                            <a:buNone/>
                          </a:pPr>
                          <a:endParaRPr lang="en-US" dirty="0" smtClean="0"/>
                        </a:p>
                        <a:p>
                          <a:pPr marL="0" indent="0">
                            <a:buNone/>
                          </a:pPr>
                          <a:r>
                            <a:rPr lang="ru-RU" dirty="0" smtClean="0"/>
                            <a:t>Время остановки</a:t>
                          </a:r>
                          <a:r>
                            <a:rPr lang="en-US" dirty="0" smtClean="0"/>
                            <a:t>: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n-US" sz="18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</a:t>
                          </a:r>
                          <a:r>
                            <a:rPr lang="ru-RU" sz="18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lang="en-US" sz="18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ru-RU" sz="1800" b="1" kern="1200" dirty="0" smtClean="0">
                              <a:solidFill>
                                <a:schemeClr val="lt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~218 с</a:t>
                          </a:r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dirty="0" smtClean="0"/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1.0 м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0.05 кг/с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1.0 кг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∠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90°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Время остановки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~182 с</a:t>
                          </a:r>
                          <a:endParaRPr kumimoji="0" lang="ru-RU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3.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2.0 м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0.11 кг/с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1.0 кг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∠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90°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Время остановки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~97 с</a:t>
                          </a:r>
                          <a:endParaRPr kumimoji="0" lang="ru-RU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4.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2.0 м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0.05 кг/с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5.0 кг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∠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90°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Время остановки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~44 с</a:t>
                          </a:r>
                          <a:endParaRPr kumimoji="0" lang="ru-RU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2.0 м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F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0.05 кг/с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m =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1.0 кг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6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∠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𝛼</m:t>
                              </m:r>
                            </m:oMath>
                          </a14:m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=</a:t>
                          </a:r>
                          <a:r>
                            <a:rPr kumimoji="0" lang="en-US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YS Tex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24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40°</a:t>
                          </a:r>
                          <a:endParaRPr kumimoji="0" lang="en-US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Время остановки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: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       </a:t>
                          </a:r>
                          <a:r>
                            <a:rPr kumimoji="0" lang="en-US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0" lang="ru-RU" sz="1800" b="1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~174 с</a:t>
                          </a:r>
                          <a:endParaRPr kumimoji="0" lang="ru-RU" sz="1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13118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1281092"/>
                  </p:ext>
                </p:extLst>
              </p:nvPr>
            </p:nvGraphicFramePr>
            <p:xfrm>
              <a:off x="355080" y="2169621"/>
              <a:ext cx="11247120" cy="40065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9424">
                      <a:extLst>
                        <a:ext uri="{9D8B030D-6E8A-4147-A177-3AD203B41FA5}">
                          <a16:colId xmlns:a16="http://schemas.microsoft.com/office/drawing/2014/main" val="2399710872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621102352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3431598350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4102444999"/>
                        </a:ext>
                      </a:extLst>
                    </a:gridCol>
                    <a:gridCol w="2249424">
                      <a:extLst>
                        <a:ext uri="{9D8B030D-6E8A-4147-A177-3AD203B41FA5}">
                          <a16:colId xmlns:a16="http://schemas.microsoft.com/office/drawing/2014/main" val="4220757861"/>
                        </a:ext>
                      </a:extLst>
                    </a:gridCol>
                  </a:tblGrid>
                  <a:tr h="400650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71" t="-1062" r="-401355" b="-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271" t="-1062" r="-301355" b="-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99730" t="-1062" r="-200541" b="-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0542" t="-1062" r="-101084" b="-6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400542" t="-1062" r="-1084" b="-6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13118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10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96875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310917"/>
          </a:xfrm>
        </p:spPr>
        <p:txBody>
          <a:bodyPr>
            <a:normAutofit/>
          </a:bodyPr>
          <a:lstStyle/>
          <a:p>
            <a:r>
              <a:rPr lang="ru-RU" sz="4800" dirty="0" smtClean="0"/>
              <a:t>Заключение</a:t>
            </a:r>
            <a:endParaRPr lang="ru-RU" sz="4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1795549"/>
            <a:ext cx="10058400" cy="437665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 smtClean="0"/>
              <a:t>В ходе работы было разработана программа визуализации маятника </a:t>
            </a:r>
            <a:r>
              <a:rPr lang="ru-RU" sz="2400" dirty="0"/>
              <a:t>с использованием технологии </a:t>
            </a:r>
            <a:r>
              <a:rPr lang="ru-RU" sz="2400" dirty="0" err="1" smtClean="0"/>
              <a:t>OpenGL</a:t>
            </a:r>
            <a:r>
              <a:rPr lang="ru-RU" sz="2400" dirty="0" smtClean="0"/>
              <a:t>. В </a:t>
            </a:r>
            <a:r>
              <a:rPr lang="ru-RU" sz="2400" dirty="0"/>
              <a:t>процессе наблюдения за движением маятника пользователь может проследить, как изменяется угол отклонения со временем под действием силы тяжести и сопротивления среды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r>
              <a:rPr lang="ru-RU" sz="2400" dirty="0"/>
              <a:t>Благодаря </a:t>
            </a:r>
            <a:r>
              <a:rPr lang="ru-RU" sz="2400" dirty="0" smtClean="0"/>
              <a:t>добавлению имитации тени шара, </a:t>
            </a:r>
            <a:r>
              <a:rPr lang="ru-RU" sz="2400" dirty="0"/>
              <a:t>сцена </a:t>
            </a:r>
            <a:r>
              <a:rPr lang="ru-RU" sz="2400" dirty="0" smtClean="0"/>
              <a:t>получилась реалистичнее.  Тен</a:t>
            </a:r>
            <a:r>
              <a:rPr lang="ru-RU" sz="2400" dirty="0"/>
              <a:t>ь</a:t>
            </a:r>
            <a:r>
              <a:rPr lang="ru-RU" sz="2400" dirty="0" smtClean="0"/>
              <a:t> </a:t>
            </a:r>
            <a:r>
              <a:rPr lang="ru-RU" sz="2400" dirty="0"/>
              <a:t>естественным образом </a:t>
            </a:r>
            <a:r>
              <a:rPr lang="ru-RU" sz="2400" dirty="0" smtClean="0"/>
              <a:t>реагирует </a:t>
            </a:r>
            <a:r>
              <a:rPr lang="ru-RU" sz="2400" dirty="0"/>
              <a:t>на </a:t>
            </a:r>
            <a:r>
              <a:rPr lang="ru-RU" sz="2400" dirty="0" smtClean="0"/>
              <a:t>перемещение маятника </a:t>
            </a:r>
            <a:r>
              <a:rPr lang="ru-RU" sz="2400" dirty="0"/>
              <a:t>и изменение условий освещения.</a:t>
            </a:r>
          </a:p>
          <a:p>
            <a:pPr marL="0" indent="0">
              <a:buNone/>
            </a:pPr>
            <a:r>
              <a:rPr lang="ru-RU" sz="2400" dirty="0"/>
              <a:t>Важно отметить, </a:t>
            </a:r>
            <a:r>
              <a:rPr lang="ru-RU" sz="2400" dirty="0" smtClean="0"/>
              <a:t>что использование 3</a:t>
            </a:r>
            <a:r>
              <a:rPr lang="en-US" sz="2400" dirty="0" smtClean="0"/>
              <a:t>D</a:t>
            </a:r>
            <a:r>
              <a:rPr lang="ru-RU" sz="2400" dirty="0" smtClean="0"/>
              <a:t>-моделей и текстур сделали картинку красочней и интересней. </a:t>
            </a:r>
            <a:endParaRPr lang="ru-RU" sz="24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ru-RU" noProof="1" smtClean="0"/>
              <a:t>11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22739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597_TF89879641.potx" id="{33FF4C01-A8D1-45A5-9AFD-1C36B53DFBD8}" vid="{B49E893B-DF51-4BA7-A263-372D9B36284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8674FF-673D-40E4-90DC-427647F6395A}">
  <ds:schemaRefs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EFE16CA-070B-4D00-B57F-1D59C2AB8F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A9D615-5981-403D-BA81-11685916B2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Дерево</Template>
  <TotalTime>0</TotalTime>
  <Words>394</Words>
  <Application>Microsoft Office PowerPoint</Application>
  <PresentationFormat>Широкоэкранный</PresentationFormat>
  <Paragraphs>94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Calibri</vt:lpstr>
      <vt:lpstr>Cambria</vt:lpstr>
      <vt:lpstr>Cambria Math</vt:lpstr>
      <vt:lpstr>Rockwell</vt:lpstr>
      <vt:lpstr>Symbol</vt:lpstr>
      <vt:lpstr>Times New Roman</vt:lpstr>
      <vt:lpstr>Wingdings</vt:lpstr>
      <vt:lpstr>YS Text</vt:lpstr>
      <vt:lpstr>Дерево</vt:lpstr>
      <vt:lpstr>Разработка программы визаулизации колебаний маятника</vt:lpstr>
      <vt:lpstr>Поставленные задачи</vt:lpstr>
      <vt:lpstr>Затухающие колебания</vt:lpstr>
      <vt:lpstr>программа</vt:lpstr>
      <vt:lpstr>Управление камерой</vt:lpstr>
      <vt:lpstr>Точечный источник света</vt:lpstr>
      <vt:lpstr>Небесное освещение</vt:lpstr>
      <vt:lpstr>Реализация тени</vt:lpstr>
      <vt:lpstr>Использование текстур</vt:lpstr>
      <vt:lpstr>Тесты на время затухания колебаний маятника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2025-06-18T11:39:01Z</dcterms:created>
  <dcterms:modified xsi:type="dcterms:W3CDTF">2025-06-20T03:20:25Z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